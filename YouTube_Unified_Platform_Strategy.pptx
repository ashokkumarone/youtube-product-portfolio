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84" d="100"/>
          <a:sy n="84" d="100"/>
        </p:scale>
        <p:origin x="90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等线" charset="0"/>
                <a:cs typeface="Calibri" charset="0"/>
              </a:rPr>
              <a:t>3/25/2026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5" name="文本框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3700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3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124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9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83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5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170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1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42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499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9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206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4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55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02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7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4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75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944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8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9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37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9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5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96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282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10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0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758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2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23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13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5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46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732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5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5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9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42550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6211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4063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768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214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8498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25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1238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83857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3678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64230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34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099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charset="0"/>
          <a:ea typeface="等线 Light" charset="0"/>
          <a:cs typeface="Calibri Light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"/>
          <p:cNvSpPr>
            <a:spLocks/>
          </p:cNvSpPr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YouTube Unified Platform</a:t>
            </a:r>
            <a:endParaRPr lang="zh-CN" altLang="en-US" sz="48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FFCCCC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Consolidating the World's Largest Content Platform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" name="矩形"/>
          <p:cNvSpPr>
            <a:spLocks/>
          </p:cNvSpPr>
          <p:nvPr/>
        </p:nvSpPr>
        <p:spPr>
          <a:xfrm>
            <a:off x="3200400" y="3291840"/>
            <a:ext cx="2743200" cy="36575"/>
          </a:xfrm>
          <a:prstGeom prst="rect">
            <a:avLst/>
          </a:prstGeom>
          <a:solidFill>
            <a:srgbClr val="FFD7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" name="矩形"/>
          <p:cNvSpPr>
            <a:spLocks/>
          </p:cNvSpPr>
          <p:nvPr/>
        </p:nvSpPr>
        <p:spPr>
          <a:xfrm>
            <a:off x="457200" y="3840480"/>
            <a:ext cx="8229600" cy="5486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Product Strategy Proposal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Ashok Kumar 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44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Executive Summary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731520" y="1188720"/>
            <a:ext cx="7955280" cy="25192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YouTube is the world's largest video platform, hosting more content than Netflix, Amazon Prime, Disney+, Spotify, and Apple Music </a:t>
            </a:r>
            <a:r>
              <a:rPr lang="en-US" altLang="zh-CN" sz="15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combined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.
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Despite this massive content advantage, YouTube's potential remains fragmented across separate apps and underutilized features.
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 proposal consolidates YouTube's entire ecosystem into one unified platform, positioning it as the definitive solution for: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097280" y="3587411"/>
            <a:ext cx="7315200" cy="12483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Music streaming (replacing Spotify)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OTT entertainment (competing with Netflix)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5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User-generated content (YouTube's core strength)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07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1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YouTube's Unmatched Content Advantage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矩形"/>
          <p:cNvSpPr>
            <a:spLocks/>
          </p:cNvSpPr>
          <p:nvPr/>
        </p:nvSpPr>
        <p:spPr>
          <a:xfrm>
            <a:off x="1466848" y="1145349"/>
            <a:ext cx="6400800" cy="154470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YouTube hosts more video content than all competitors combined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>
            <a:off x="914400" y="2743200"/>
            <a:ext cx="7315200" cy="327094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Content Volume:
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500+ hours of video uploaded every minute
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Largest music library (includes all Spotify content + more)
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Extensive movie and series catalog
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Unlimited user-generated content
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Current Challenge:
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 unparalleled content advantage is </a:t>
            </a:r>
            <a:r>
              <a:rPr lang="en-US" altLang="zh-CN" sz="14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underutilized</a:t>
            </a: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due to poor positioning and fragmented user experience.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24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8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Current Market Fragmentation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>
            <a:off x="731520" y="1371600"/>
            <a:ext cx="3657600" cy="1188720"/>
          </a:xfrm>
          <a:prstGeom prst="rect">
            <a:avLst/>
          </a:pr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矩形"/>
          <p:cNvSpPr>
            <a:spLocks/>
          </p:cNvSpPr>
          <p:nvPr/>
        </p:nvSpPr>
        <p:spPr>
          <a:xfrm>
            <a:off x="1005839" y="1554480"/>
            <a:ext cx="310896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Separate Applications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>
            <a:off x="1005839" y="2011679"/>
            <a:ext cx="310896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60606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YouTube Music exists as standalone app, forcing context switching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>
            <a:off x="4754880" y="1371600"/>
            <a:ext cx="3657600" cy="1188720"/>
          </a:xfrm>
          <a:prstGeom prst="rect">
            <a:avLst/>
          </a:pr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矩形"/>
          <p:cNvSpPr>
            <a:spLocks/>
          </p:cNvSpPr>
          <p:nvPr/>
        </p:nvSpPr>
        <p:spPr>
          <a:xfrm>
            <a:off x="5029200" y="1554480"/>
            <a:ext cx="310896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Resource Inefficiency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>
            <a:off x="5029200" y="2011679"/>
            <a:ext cx="310896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60606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Video playback for music content drains battery and consumes excessive data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5" name="矩形"/>
          <p:cNvSpPr>
            <a:spLocks/>
          </p:cNvSpPr>
          <p:nvPr/>
        </p:nvSpPr>
        <p:spPr>
          <a:xfrm>
            <a:off x="731520" y="2926080"/>
            <a:ext cx="3657600" cy="1188720"/>
          </a:xfrm>
          <a:prstGeom prst="rect">
            <a:avLst/>
          </a:pr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矩形"/>
          <p:cNvSpPr>
            <a:spLocks/>
          </p:cNvSpPr>
          <p:nvPr/>
        </p:nvSpPr>
        <p:spPr>
          <a:xfrm>
            <a:off x="1005839" y="3108960"/>
            <a:ext cx="3108960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Positioning Gap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7" name="矩形"/>
          <p:cNvSpPr>
            <a:spLocks/>
          </p:cNvSpPr>
          <p:nvPr/>
        </p:nvSpPr>
        <p:spPr>
          <a:xfrm>
            <a:off x="1005839" y="3566160"/>
            <a:ext cx="310896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60606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YouTube has more OTT content than Netflix but lacks proper categorization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8" name="矩形"/>
          <p:cNvSpPr>
            <a:spLocks/>
          </p:cNvSpPr>
          <p:nvPr/>
        </p:nvSpPr>
        <p:spPr>
          <a:xfrm>
            <a:off x="4754880" y="2926080"/>
            <a:ext cx="3657600" cy="1188720"/>
          </a:xfrm>
          <a:prstGeom prst="rect">
            <a:avLst/>
          </a:pr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矩形"/>
          <p:cNvSpPr>
            <a:spLocks/>
          </p:cNvSpPr>
          <p:nvPr/>
        </p:nvSpPr>
        <p:spPr>
          <a:xfrm>
            <a:off x="5029200" y="3108960"/>
            <a:ext cx="3108960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Revenue Fragmentation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>
            <a:off x="5029200" y="3566160"/>
            <a:ext cx="310896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60606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Users maintain multiple subscriptions: Spotify + Netflix + YouTube Premium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33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4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Proposed Solution: Unified Platform Architecture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矩形"/>
          <p:cNvSpPr>
            <a:spLocks/>
          </p:cNvSpPr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ONE Application • ALL Content • Seamless Experience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7" name="矩形"/>
          <p:cNvSpPr>
            <a:spLocks/>
          </p:cNvSpPr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Core Features: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8" name="矩形"/>
          <p:cNvSpPr>
            <a:spLocks/>
          </p:cNvSpPr>
          <p:nvPr/>
        </p:nvSpPr>
        <p:spPr>
          <a:xfrm>
            <a:off x="914400" y="3108960"/>
            <a:ext cx="7315200" cy="1371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Audio Mode Toggle: One-click conversion to audio-only playback with optimized interface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Consolidated Library: Music, movies, series, and user content in unified navigation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Smart Categorization: Songs, Podcasts, Favourites, and New Releases in Audio Mode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Premium Integration: Ad-free experience with background playback and offline downloads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74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2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Audio Mode: Technical Implementation</a:t>
            </a:r>
            <a:endParaRPr lang="zh-CN" altLang="en-US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>
            <a:off x="731520" y="811530"/>
            <a:ext cx="7566660" cy="433197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Functionality: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Disables video rendering, maintains audio stream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Transforms interface to music player layout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Displays audio visualizer and track information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Converts video suggestions to audio-only format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Presents categorized content: Songs, Podcasts, </a:t>
            </a:r>
            <a:r>
              <a:rPr lang="en-US" altLang="zh-CN" sz="1400" b="0" i="0" u="none" strike="noStrike" kern="1200" cap="none" spc="0" baseline="0" dirty="0" err="1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Favourites</a:t>
            </a: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 New Releases</a:t>
            </a: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solidFill>
                <a:srgbClr val="0F0F0F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
</a:t>
            </a:r>
            <a:r>
              <a:rPr lang="en-US" altLang="zh-CN" sz="1400" b="1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 Benefits: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60-70% reduction in battery consumption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Significant decrease in data usage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Optimized for extended listening sessions</a:t>
            </a: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400" dirty="0">
              <a:solidFill>
                <a:srgbClr val="0F0F0F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
</a:t>
            </a:r>
            <a:r>
              <a:rPr lang="en-US" altLang="zh-CN" sz="1400" b="1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Target Use Cases: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Music playback, motivational content, ASMR, podcasts, sleep sounds, background audio</a:t>
            </a:r>
            <a:endParaRPr lang="zh-CN" altLang="en-US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1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7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Audio Mode Content Organization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>
            <a:off x="731520" y="1371600"/>
            <a:ext cx="3657600" cy="1188720"/>
          </a:xfrm>
          <a:prstGeom prst="rect">
            <a:avLst/>
          </a:pr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矩形"/>
          <p:cNvSpPr>
            <a:spLocks/>
          </p:cNvSpPr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等线" charset="0"/>
                <a:cs typeface="Calibri" charset="0"/>
              </a:rPr>
              <a:t>🎵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>
            <a:off x="1645920" y="1645920"/>
            <a:ext cx="256032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Songs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1" name="矩形"/>
          <p:cNvSpPr>
            <a:spLocks/>
          </p:cNvSpPr>
          <p:nvPr/>
        </p:nvSpPr>
        <p:spPr>
          <a:xfrm>
            <a:off x="1645920" y="2011679"/>
            <a:ext cx="256032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60606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Complete music library with audio-optimized playback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2" name="矩形"/>
          <p:cNvSpPr>
            <a:spLocks/>
          </p:cNvSpPr>
          <p:nvPr/>
        </p:nvSpPr>
        <p:spPr>
          <a:xfrm>
            <a:off x="4754880" y="1371600"/>
            <a:ext cx="3657600" cy="1188720"/>
          </a:xfrm>
          <a:prstGeom prst="rect">
            <a:avLst/>
          </a:pr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矩形"/>
          <p:cNvSpPr>
            <a:spLocks/>
          </p:cNvSpPr>
          <p:nvPr/>
        </p:nvSpPr>
        <p:spPr>
          <a:xfrm>
            <a:off x="4937760" y="1645920"/>
            <a:ext cx="54864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等线" charset="0"/>
                <a:cs typeface="Calibri" charset="0"/>
              </a:rPr>
              <a:t>🎙️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>
            <a:off x="5669280" y="1645920"/>
            <a:ext cx="256032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Podcasts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5" name="矩形"/>
          <p:cNvSpPr>
            <a:spLocks/>
          </p:cNvSpPr>
          <p:nvPr/>
        </p:nvSpPr>
        <p:spPr>
          <a:xfrm>
            <a:off x="5669280" y="2011679"/>
            <a:ext cx="256032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60606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Long-form audio content, interviews, and discussions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6" name="矩形"/>
          <p:cNvSpPr>
            <a:spLocks/>
          </p:cNvSpPr>
          <p:nvPr/>
        </p:nvSpPr>
        <p:spPr>
          <a:xfrm>
            <a:off x="731520" y="2926080"/>
            <a:ext cx="3657600" cy="1188720"/>
          </a:xfrm>
          <a:prstGeom prst="rect">
            <a:avLst/>
          </a:pr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7" name="矩形"/>
          <p:cNvSpPr>
            <a:spLocks/>
          </p:cNvSpPr>
          <p:nvPr/>
        </p:nvSpPr>
        <p:spPr>
          <a:xfrm>
            <a:off x="914400" y="3200400"/>
            <a:ext cx="54864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等线" charset="0"/>
                <a:cs typeface="Calibri" charset="0"/>
              </a:rPr>
              <a:t>❤️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8" name="矩形"/>
          <p:cNvSpPr>
            <a:spLocks/>
          </p:cNvSpPr>
          <p:nvPr/>
        </p:nvSpPr>
        <p:spPr>
          <a:xfrm>
            <a:off x="1645920" y="3200400"/>
            <a:ext cx="2560320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Favourites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>
            <a:off x="1645920" y="3566160"/>
            <a:ext cx="256032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60606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Personalized playlists and curated collections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0" name="矩形"/>
          <p:cNvSpPr>
            <a:spLocks/>
          </p:cNvSpPr>
          <p:nvPr/>
        </p:nvSpPr>
        <p:spPr>
          <a:xfrm>
            <a:off x="4754880" y="2926080"/>
            <a:ext cx="3657600" cy="1188720"/>
          </a:xfrm>
          <a:prstGeom prst="rect">
            <a:avLst/>
          </a:pr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1" name="矩形"/>
          <p:cNvSpPr>
            <a:spLocks/>
          </p:cNvSpPr>
          <p:nvPr/>
        </p:nvSpPr>
        <p:spPr>
          <a:xfrm>
            <a:off x="4937760" y="3200400"/>
            <a:ext cx="54864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0" i="0" u="none" strike="noStrike" kern="1200" cap="none" spc="0" baseline="0">
                <a:solidFill>
                  <a:srgbClr val="000000"/>
                </a:solidFill>
                <a:latin typeface="Calibri" charset="0"/>
                <a:ea typeface="等线" charset="0"/>
                <a:cs typeface="Calibri" charset="0"/>
              </a:rPr>
              <a:t>🆕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2" name="矩形"/>
          <p:cNvSpPr>
            <a:spLocks/>
          </p:cNvSpPr>
          <p:nvPr/>
        </p:nvSpPr>
        <p:spPr>
          <a:xfrm>
            <a:off x="5669280" y="3200400"/>
            <a:ext cx="2560320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New Releases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3" name="矩形"/>
          <p:cNvSpPr>
            <a:spLocks/>
          </p:cNvSpPr>
          <p:nvPr/>
        </p:nvSpPr>
        <p:spPr>
          <a:xfrm>
            <a:off x="5669280" y="3566160"/>
            <a:ext cx="256032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60606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Latest tracks, albums, and trending audio content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4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7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Monetization Strategy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>
            <a:off x="914400" y="1371600"/>
            <a:ext cx="2286000" cy="2286000"/>
          </a:xfrm>
          <a:prstGeom prst="rect">
            <a:avLst/>
          </a:prstGeom>
          <a:solidFill>
            <a:srgbClr val="FFD700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9" name="矩形"/>
          <p:cNvSpPr>
            <a:spLocks/>
          </p:cNvSpPr>
          <p:nvPr/>
        </p:nvSpPr>
        <p:spPr>
          <a:xfrm>
            <a:off x="1097280" y="1645920"/>
            <a:ext cx="1920239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Premium Subscription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0" name="矩形"/>
          <p:cNvSpPr>
            <a:spLocks/>
          </p:cNvSpPr>
          <p:nvPr/>
        </p:nvSpPr>
        <p:spPr>
          <a:xfrm>
            <a:off x="1097280" y="2103120"/>
            <a:ext cx="1920239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₹129-199/month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>
            <a:off x="1097280" y="2651760"/>
            <a:ext cx="1920239" cy="914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Ad-free experience, background playback, offline downloads, premium content access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2" name="矩形"/>
          <p:cNvSpPr>
            <a:spLocks/>
          </p:cNvSpPr>
          <p:nvPr/>
        </p:nvSpPr>
        <p:spPr>
          <a:xfrm>
            <a:off x="3474720" y="1371600"/>
            <a:ext cx="2286000" cy="2286000"/>
          </a:xfrm>
          <a:prstGeom prst="rect">
            <a:avLst/>
          </a:prstGeom>
          <a:solidFill>
            <a:srgbClr val="065FD4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3" name="矩形"/>
          <p:cNvSpPr>
            <a:spLocks/>
          </p:cNvSpPr>
          <p:nvPr/>
        </p:nvSpPr>
        <p:spPr>
          <a:xfrm>
            <a:off x="3657600" y="1645920"/>
            <a:ext cx="192024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Transactional Rentals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>
            <a:off x="3657600" y="2103120"/>
            <a:ext cx="192024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₹10 per movie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>
            <a:off x="3657600" y="2651760"/>
            <a:ext cx="1920240" cy="914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Individual content rentals without subscription commitment, expanding addressable market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6" name="矩形"/>
          <p:cNvSpPr>
            <a:spLocks/>
          </p:cNvSpPr>
          <p:nvPr/>
        </p:nvSpPr>
        <p:spPr>
          <a:xfrm>
            <a:off x="6035039" y="1371600"/>
            <a:ext cx="2286000" cy="228600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7" name="矩形"/>
          <p:cNvSpPr>
            <a:spLocks/>
          </p:cNvSpPr>
          <p:nvPr/>
        </p:nvSpPr>
        <p:spPr>
          <a:xfrm>
            <a:off x="6217920" y="1645920"/>
            <a:ext cx="192024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Advertising Revenue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>
            <a:off x="6217920" y="2103120"/>
            <a:ext cx="192024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Differentiated Rates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9" name="矩形"/>
          <p:cNvSpPr>
            <a:spLocks/>
          </p:cNvSpPr>
          <p:nvPr/>
        </p:nvSpPr>
        <p:spPr>
          <a:xfrm>
            <a:off x="6217920" y="2651760"/>
            <a:ext cx="1920240" cy="914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Separate pricing for video and audio advertising inventory based on engagement metrics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984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3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Creator Monetization Framework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4" name="矩形"/>
          <p:cNvSpPr>
            <a:spLocks/>
          </p:cNvSpPr>
          <p:nvPr/>
        </p:nvSpPr>
        <p:spPr>
          <a:xfrm>
            <a:off x="790576" y="1623060"/>
            <a:ext cx="7315200" cy="260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Current Limitation: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Video content generates higher ad revenue than audio consumption, creating inequitable monetization for audio-first creators (motivational speakers, ASMR artists, podcast hosts, audiobook narrators).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Proposed Enhancement: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Implement audio engagement-weighted revenue model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Increase payout rates for high-engagement audio content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Incentivize quality audio production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Fair compensation aligned with consumption behavior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Expected Ecosystem Impact: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200% growth in audio-focused creator base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Migration of podcast creators from competing platforms
</a:t>
            </a: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Enhanced content quality and diversity</a:t>
            </a:r>
            <a:endParaRPr lang="zh-CN" altLang="en-US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67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8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Competitive Market Positioning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graphicFrame>
        <p:nvGraphicFramePr>
          <p:cNvPr id="99" name="Table"/>
          <p:cNvGraphicFramePr>
            <a:graphicFrameLocks noGrp="1"/>
          </p:cNvGraphicFramePr>
          <p:nvPr/>
        </p:nvGraphicFramePr>
        <p:xfrm>
          <a:off x="914400" y="1371600"/>
          <a:ext cx="7315161" cy="274315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103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5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31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Platform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Content Offering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Strategic Limitation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1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0F0F0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Spotify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0F0F0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Music streaming only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0F0F0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No video capability, limited content library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31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0F0F0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Netflix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0F0F0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Movies and series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0F0F0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No music, no user-generated content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31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0F0F0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YouTube Music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0F0F0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Music streaming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i="0" u="none" strike="noStrike" kern="1200" cap="none" spc="0" baseline="0">
                          <a:solidFill>
                            <a:srgbClr val="0F0F0F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Separate application, fragmented experience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31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YouTube Unified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Complete ecosystem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1" i="0" u="none" strike="noStrike" kern="1200" cap="none" spc="0" baseline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0"/>
                          <a:cs typeface="Arial" pitchFamily="34" charset="0"/>
                        </a:rPr>
                        <a:t>No limitations - comprehensive solution</a:t>
                      </a:r>
                      <a:endParaRPr lang="zh-CN" altLang="en-US" sz="1300" b="0" i="0" u="none" strike="noStrike" kern="1200" cap="none" spc="0" baseline="0">
                        <a:solidFill>
                          <a:schemeClr val="tx1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901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3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Projected Performance Metrics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4" name="矩形"/>
          <p:cNvSpPr>
            <a:spLocks/>
          </p:cNvSpPr>
          <p:nvPr/>
        </p:nvSpPr>
        <p:spPr>
          <a:xfrm>
            <a:off x="914400" y="1371600"/>
            <a:ext cx="1371600" cy="640079"/>
          </a:xfrm>
          <a:prstGeom prst="rect">
            <a:avLst/>
          </a:prstGeom>
          <a:solidFill>
            <a:srgbClr val="065FD4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5" name="矩形"/>
          <p:cNvSpPr>
            <a:spLocks/>
          </p:cNvSpPr>
          <p:nvPr/>
        </p:nvSpPr>
        <p:spPr>
          <a:xfrm>
            <a:off x="914400" y="1371600"/>
            <a:ext cx="137160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40-60%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6" name="矩形"/>
          <p:cNvSpPr>
            <a:spLocks/>
          </p:cNvSpPr>
          <p:nvPr/>
        </p:nvSpPr>
        <p:spPr>
          <a:xfrm>
            <a:off x="2468880" y="1371600"/>
            <a:ext cx="210312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Audio Mode adoption within 6 months of launch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7" name="矩形"/>
          <p:cNvSpPr>
            <a:spLocks/>
          </p:cNvSpPr>
          <p:nvPr/>
        </p:nvSpPr>
        <p:spPr>
          <a:xfrm>
            <a:off x="4754880" y="1371600"/>
            <a:ext cx="1371600" cy="640079"/>
          </a:xfrm>
          <a:prstGeom prst="rect">
            <a:avLst/>
          </a:prstGeom>
          <a:solidFill>
            <a:srgbClr val="065FD4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8" name="矩形"/>
          <p:cNvSpPr>
            <a:spLocks/>
          </p:cNvSpPr>
          <p:nvPr/>
        </p:nvSpPr>
        <p:spPr>
          <a:xfrm>
            <a:off x="4754880" y="1371600"/>
            <a:ext cx="137160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+25%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9" name="矩形"/>
          <p:cNvSpPr>
            <a:spLocks/>
          </p:cNvSpPr>
          <p:nvPr/>
        </p:nvSpPr>
        <p:spPr>
          <a:xfrm>
            <a:off x="6309360" y="1371600"/>
            <a:ext cx="2103119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Premium subscription conversion rate increase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10" name="矩形"/>
          <p:cNvSpPr>
            <a:spLocks/>
          </p:cNvSpPr>
          <p:nvPr/>
        </p:nvSpPr>
        <p:spPr>
          <a:xfrm>
            <a:off x="914400" y="2286000"/>
            <a:ext cx="1371600" cy="640079"/>
          </a:xfrm>
          <a:prstGeom prst="rect">
            <a:avLst/>
          </a:prstGeom>
          <a:solidFill>
            <a:srgbClr val="065FD4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1" name="矩形"/>
          <p:cNvSpPr>
            <a:spLocks/>
          </p:cNvSpPr>
          <p:nvPr/>
        </p:nvSpPr>
        <p:spPr>
          <a:xfrm>
            <a:off x="914400" y="2286000"/>
            <a:ext cx="137160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+50%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>
            <a:off x="2468880" y="2286000"/>
            <a:ext cx="210312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Daily active usage time (background playback)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13" name="矩形"/>
          <p:cNvSpPr>
            <a:spLocks/>
          </p:cNvSpPr>
          <p:nvPr/>
        </p:nvSpPr>
        <p:spPr>
          <a:xfrm>
            <a:off x="4754880" y="2286000"/>
            <a:ext cx="1371600" cy="640079"/>
          </a:xfrm>
          <a:prstGeom prst="rect">
            <a:avLst/>
          </a:prstGeom>
          <a:solidFill>
            <a:srgbClr val="065FD4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4" name="矩形"/>
          <p:cNvSpPr>
            <a:spLocks/>
          </p:cNvSpPr>
          <p:nvPr/>
        </p:nvSpPr>
        <p:spPr>
          <a:xfrm>
            <a:off x="4754880" y="2286000"/>
            <a:ext cx="137160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15-20%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>
            <a:off x="6309360" y="2286000"/>
            <a:ext cx="2103119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Spotify user base migration in Year 1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16" name="矩形"/>
          <p:cNvSpPr>
            <a:spLocks/>
          </p:cNvSpPr>
          <p:nvPr/>
        </p:nvSpPr>
        <p:spPr>
          <a:xfrm>
            <a:off x="914400" y="3200400"/>
            <a:ext cx="1371600" cy="640079"/>
          </a:xfrm>
          <a:prstGeom prst="rect">
            <a:avLst/>
          </a:prstGeom>
          <a:solidFill>
            <a:srgbClr val="065FD4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7" name="矩形"/>
          <p:cNvSpPr>
            <a:spLocks/>
          </p:cNvSpPr>
          <p:nvPr/>
        </p:nvSpPr>
        <p:spPr>
          <a:xfrm>
            <a:off x="914400" y="3200400"/>
            <a:ext cx="137160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+200%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18" name="矩形"/>
          <p:cNvSpPr>
            <a:spLocks/>
          </p:cNvSpPr>
          <p:nvPr/>
        </p:nvSpPr>
        <p:spPr>
          <a:xfrm>
            <a:off x="2468880" y="3200400"/>
            <a:ext cx="210312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Audio-first creator ecosystem growth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19" name="矩形"/>
          <p:cNvSpPr>
            <a:spLocks/>
          </p:cNvSpPr>
          <p:nvPr/>
        </p:nvSpPr>
        <p:spPr>
          <a:xfrm>
            <a:off x="4754880" y="3200400"/>
            <a:ext cx="1371600" cy="640079"/>
          </a:xfrm>
          <a:prstGeom prst="rect">
            <a:avLst/>
          </a:prstGeom>
          <a:solidFill>
            <a:srgbClr val="065FD4"/>
          </a:solidFill>
          <a:ln w="12700" cap="flat" cmpd="sng">
            <a:noFill/>
            <a:prstDash val="solid"/>
            <a:miter/>
          </a:ln>
          <a:effectLst>
            <a:outerShdw blurRad="101600" dist="38100" dir="8100000" algn="bl" rotWithShape="0">
              <a:srgbClr val="000000">
                <a:alpha val="14509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0" name="矩形"/>
          <p:cNvSpPr>
            <a:spLocks/>
          </p:cNvSpPr>
          <p:nvPr/>
        </p:nvSpPr>
        <p:spPr>
          <a:xfrm>
            <a:off x="4754880" y="3200400"/>
            <a:ext cx="137160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10%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1" name="矩形"/>
          <p:cNvSpPr>
            <a:spLocks/>
          </p:cNvSpPr>
          <p:nvPr/>
        </p:nvSpPr>
        <p:spPr>
          <a:xfrm>
            <a:off x="6309360" y="3200400"/>
            <a:ext cx="2103119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Market share gain in OTT watch time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648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"/>
          <p:cNvSpPr>
            <a:spLocks/>
          </p:cNvSpPr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5" name="矩形"/>
          <p:cNvSpPr>
            <a:spLocks/>
          </p:cNvSpPr>
          <p:nvPr/>
        </p:nvSpPr>
        <p:spPr>
          <a:xfrm>
            <a:off x="731520" y="365760"/>
            <a:ext cx="795528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Phased Implementation Strategy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6" name="椭圆"/>
          <p:cNvSpPr>
            <a:spLocks/>
          </p:cNvSpPr>
          <p:nvPr/>
        </p:nvSpPr>
        <p:spPr>
          <a:xfrm>
            <a:off x="1371600" y="1371600"/>
            <a:ext cx="457200" cy="457200"/>
          </a:xfrm>
          <a:prstGeom prst="ellipse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7" name="矩形"/>
          <p:cNvSpPr>
            <a:spLocks/>
          </p:cNvSpPr>
          <p:nvPr/>
        </p:nvSpPr>
        <p:spPr>
          <a:xfrm>
            <a:off x="1371600" y="1371600"/>
            <a:ext cx="4572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8" name="矩形"/>
          <p:cNvSpPr>
            <a:spLocks/>
          </p:cNvSpPr>
          <p:nvPr/>
        </p:nvSpPr>
        <p:spPr>
          <a:xfrm>
            <a:off x="1920240" y="1572768"/>
            <a:ext cx="548640" cy="54863"/>
          </a:xfrm>
          <a:prstGeom prst="rect">
            <a:avLst/>
          </a:prstGeom>
          <a:solidFill>
            <a:srgbClr val="60606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9" name="矩形"/>
          <p:cNvSpPr>
            <a:spLocks/>
          </p:cNvSpPr>
          <p:nvPr/>
        </p:nvSpPr>
        <p:spPr>
          <a:xfrm>
            <a:off x="914400" y="2011679"/>
            <a:ext cx="155448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MVP Development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0" name="矩形"/>
          <p:cNvSpPr>
            <a:spLocks/>
          </p:cNvSpPr>
          <p:nvPr/>
        </p:nvSpPr>
        <p:spPr>
          <a:xfrm>
            <a:off x="822960" y="2468880"/>
            <a:ext cx="1737359" cy="1371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Audio Mode toggle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Basic optimization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User testing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1" name="椭圆"/>
          <p:cNvSpPr>
            <a:spLocks/>
          </p:cNvSpPr>
          <p:nvPr/>
        </p:nvSpPr>
        <p:spPr>
          <a:xfrm>
            <a:off x="3383279" y="1371600"/>
            <a:ext cx="457200" cy="457200"/>
          </a:xfrm>
          <a:prstGeom prst="ellipse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2" name="矩形"/>
          <p:cNvSpPr>
            <a:spLocks/>
          </p:cNvSpPr>
          <p:nvPr/>
        </p:nvSpPr>
        <p:spPr>
          <a:xfrm>
            <a:off x="3383279" y="1371600"/>
            <a:ext cx="4572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3" name="矩形"/>
          <p:cNvSpPr>
            <a:spLocks/>
          </p:cNvSpPr>
          <p:nvPr/>
        </p:nvSpPr>
        <p:spPr>
          <a:xfrm>
            <a:off x="3931920" y="1572768"/>
            <a:ext cx="548639" cy="54863"/>
          </a:xfrm>
          <a:prstGeom prst="rect">
            <a:avLst/>
          </a:prstGeom>
          <a:solidFill>
            <a:srgbClr val="60606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4" name="矩形"/>
          <p:cNvSpPr>
            <a:spLocks/>
          </p:cNvSpPr>
          <p:nvPr/>
        </p:nvSpPr>
        <p:spPr>
          <a:xfrm>
            <a:off x="2926080" y="2011679"/>
            <a:ext cx="155448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Category Integration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5" name="矩形"/>
          <p:cNvSpPr>
            <a:spLocks/>
          </p:cNvSpPr>
          <p:nvPr/>
        </p:nvSpPr>
        <p:spPr>
          <a:xfrm>
            <a:off x="2834640" y="2468880"/>
            <a:ext cx="1737360" cy="1371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Content organization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Smart playlists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UI refinement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6" name="椭圆"/>
          <p:cNvSpPr>
            <a:spLocks/>
          </p:cNvSpPr>
          <p:nvPr/>
        </p:nvSpPr>
        <p:spPr>
          <a:xfrm>
            <a:off x="5394960" y="1371600"/>
            <a:ext cx="457200" cy="457200"/>
          </a:xfrm>
          <a:prstGeom prst="ellipse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7" name="矩形"/>
          <p:cNvSpPr>
            <a:spLocks/>
          </p:cNvSpPr>
          <p:nvPr/>
        </p:nvSpPr>
        <p:spPr>
          <a:xfrm>
            <a:off x="5394960" y="1371600"/>
            <a:ext cx="4572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8" name="矩形"/>
          <p:cNvSpPr>
            <a:spLocks/>
          </p:cNvSpPr>
          <p:nvPr/>
        </p:nvSpPr>
        <p:spPr>
          <a:xfrm>
            <a:off x="5943599" y="1572768"/>
            <a:ext cx="548640" cy="54863"/>
          </a:xfrm>
          <a:prstGeom prst="rect">
            <a:avLst/>
          </a:prstGeom>
          <a:solidFill>
            <a:srgbClr val="60606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9" name="矩形"/>
          <p:cNvSpPr>
            <a:spLocks/>
          </p:cNvSpPr>
          <p:nvPr/>
        </p:nvSpPr>
        <p:spPr>
          <a:xfrm>
            <a:off x="4937760" y="2011679"/>
            <a:ext cx="1554479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Premium Features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>
            <a:off x="4846320" y="2468880"/>
            <a:ext cx="1737360" cy="1371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Ad-free audio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Background play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Offline mode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1" name="椭圆"/>
          <p:cNvSpPr>
            <a:spLocks/>
          </p:cNvSpPr>
          <p:nvPr/>
        </p:nvSpPr>
        <p:spPr>
          <a:xfrm>
            <a:off x="7406639" y="1371600"/>
            <a:ext cx="457200" cy="457200"/>
          </a:xfrm>
          <a:prstGeom prst="ellipse">
            <a:avLst/>
          </a:prstGeom>
          <a:solidFill>
            <a:srgbClr val="FF0000"/>
          </a:solidFill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42" name="矩形"/>
          <p:cNvSpPr>
            <a:spLocks/>
          </p:cNvSpPr>
          <p:nvPr/>
        </p:nvSpPr>
        <p:spPr>
          <a:xfrm>
            <a:off x="7406639" y="1371600"/>
            <a:ext cx="4572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>
            <a:off x="6949440" y="2011679"/>
            <a:ext cx="155448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Platform Migration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4" name="矩形"/>
          <p:cNvSpPr>
            <a:spLocks/>
          </p:cNvSpPr>
          <p:nvPr/>
        </p:nvSpPr>
        <p:spPr>
          <a:xfrm>
            <a:off x="6858000" y="2468880"/>
            <a:ext cx="1737360" cy="1371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YouTube Music sunset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Complete rollout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00" b="0" i="0" u="none" strike="noStrike" kern="1200" cap="none" spc="0" baseline="0">
                <a:solidFill>
                  <a:srgbClr val="0F0F0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Marketing campaign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609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矩形"/>
          <p:cNvSpPr>
            <a:spLocks/>
          </p:cNvSpPr>
          <p:nvPr/>
        </p:nvSpPr>
        <p:spPr>
          <a:xfrm>
            <a:off x="361951" y="457207"/>
            <a:ext cx="822960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Strategic Conclusion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9" name="矩形"/>
          <p:cNvSpPr>
            <a:spLocks/>
          </p:cNvSpPr>
          <p:nvPr/>
        </p:nvSpPr>
        <p:spPr>
          <a:xfrm>
            <a:off x="914400" y="1851660"/>
            <a:ext cx="7315200" cy="27203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YouTube is already the world's largest content platform — exceeding Netflix, Spotify, and all major competitors in total content volume.
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 unified platform architecture transforms this latent advantage into market dominance:
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Consolidated user experience across all content types
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Equitable creator monetization driving content quality
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• Category leadership in music, video, and OTT
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 is not product innovation.
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 is strategic positioning to realize YouTube's full market potential.</a:t>
            </a:r>
            <a:endParaRPr lang="zh-CN" altLang="en-US" sz="15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9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35</TotalTime>
  <Words>839</Words>
  <Application>Microsoft Office PowerPoint</Application>
  <PresentationFormat>On-screen Show (16:9)</PresentationFormat>
  <Paragraphs>158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Droid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Unified Platform Strategy</dc:title>
  <dc:subject>PptxGenJS Presentation</dc:subject>
  <dc:creator>Ashok Kumar S</dc:creator>
  <cp:lastModifiedBy>ASHOK KUMAR</cp:lastModifiedBy>
  <cp:revision>2</cp:revision>
  <dcterms:created xsi:type="dcterms:W3CDTF">2026-02-14T17:02:31Z</dcterms:created>
  <dcterms:modified xsi:type="dcterms:W3CDTF">2026-03-25T05:41:45Z</dcterms:modified>
</cp:coreProperties>
</file>